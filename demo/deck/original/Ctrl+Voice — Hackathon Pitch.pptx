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nter" charset="1" panose="02000503000000020004"/>
      <p:regular r:id="rId18"/>
    </p:embeddedFont>
    <p:embeddedFont>
      <p:font typeface="Bebas Neue" charset="1" panose="00000500000000000000"/>
      <p:regular r:id="rId19"/>
    </p:embeddedFont>
    <p:embeddedFont>
      <p:font typeface="Inter Bold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Record the audio. Speech-to-text gives word timestamps (text is only a map). A small LLM decides what to fix. Cut that span. A speech model regenerates it, conditioned on the surrounding voice. Voice2Voice adjusts tone. Pronunciation path: one model finds mispronounced words, a speech-to-speech model re-speaks them.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 fix is generated in the speaker’s own voice.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VAHYTQcxpIw.mp4" Type="http://schemas.openxmlformats.org/officeDocument/2006/relationships/video"/><Relationship Id="rId5" Target="../media/VAHYTQcxpIw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VAHYTXDGF8Y.mp4" Type="http://schemas.openxmlformats.org/officeDocument/2006/relationships/video"/><Relationship Id="rId5" Target="../media/VAHYTXDGF8Y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VAHYTc9Qepo.mp4" Type="http://schemas.openxmlformats.org/officeDocument/2006/relationships/video"/><Relationship Id="rId5" Target="../media/VAHYTc9Qepo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jpeg" Type="http://schemas.openxmlformats.org/officeDocument/2006/relationships/image"/><Relationship Id="rId4" Target="../media/VAHYTXtanGI.mp4" Type="http://schemas.openxmlformats.org/officeDocument/2006/relationships/video"/><Relationship Id="rId5" Target="../media/VAHYTXtanGI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YTa6mMb8.mp4" Type="http://schemas.openxmlformats.org/officeDocument/2006/relationships/video"/><Relationship Id="rId11" Target="../media/VAHYTa6mMb8.mp4" Type="http://schemas.microsoft.com/office/2007/relationships/media"/><Relationship Id="rId12" Target="../media/image9.jpeg" Type="http://schemas.openxmlformats.org/officeDocument/2006/relationships/image"/><Relationship Id="rId13" Target="../media/VAHYTZ7PA2Y.mp4" Type="http://schemas.openxmlformats.org/officeDocument/2006/relationships/video"/><Relationship Id="rId14" Target="../media/VAHYTZ7PA2Y.mp4" Type="http://schemas.microsoft.com/office/2007/relationships/media"/><Relationship Id="rId15" Target="../media/image10.jpeg" Type="http://schemas.openxmlformats.org/officeDocument/2006/relationships/image"/><Relationship Id="rId16" Target="../media/VAHYTbYQPe4.mp4" Type="http://schemas.openxmlformats.org/officeDocument/2006/relationships/video"/><Relationship Id="rId17" Target="../media/VAHYTbYQPe4.mp4" Type="http://schemas.microsoft.com/office/2007/relationships/media"/><Relationship Id="rId18" Target="../media/image11.jpeg" Type="http://schemas.openxmlformats.org/officeDocument/2006/relationships/image"/><Relationship Id="rId19" Target="../media/VAHYTUrtJkI.mp4" Type="http://schemas.openxmlformats.org/officeDocument/2006/relationships/video"/><Relationship Id="rId2" Target="../notesSlides/notesSlide5.xml" Type="http://schemas.openxmlformats.org/officeDocument/2006/relationships/notesSlide"/><Relationship Id="rId20" Target="../media/VAHYTUrtJkI.mp4" Type="http://schemas.microsoft.com/office/2007/relationships/media"/><Relationship Id="rId3" Target="../media/image6.jpeg" Type="http://schemas.openxmlformats.org/officeDocument/2006/relationships/image"/><Relationship Id="rId4" Target="../media/VAHYTXv9t1U.mp4" Type="http://schemas.openxmlformats.org/officeDocument/2006/relationships/video"/><Relationship Id="rId5" Target="../media/VAHYTXv9t1U.mp4" Type="http://schemas.microsoft.com/office/2007/relationships/media"/><Relationship Id="rId6" Target="../media/image7.jpeg" Type="http://schemas.openxmlformats.org/officeDocument/2006/relationships/image"/><Relationship Id="rId7" Target="../media/VAHYTZ9tFHQ.mp4" Type="http://schemas.openxmlformats.org/officeDocument/2006/relationships/video"/><Relationship Id="rId8" Target="../media/VAHYTZ9tFHQ.mp4" Type="http://schemas.microsoft.com/office/2007/relationships/media"/><Relationship Id="rId9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jpeg" Type="http://schemas.openxmlformats.org/officeDocument/2006/relationships/image"/><Relationship Id="rId4" Target="../media/VAHYTWaAVqY.mp4" Type="http://schemas.openxmlformats.org/officeDocument/2006/relationships/video"/><Relationship Id="rId5" Target="../media/VAHYTWaAVqY.mp4" Type="http://schemas.microsoft.com/office/2007/relationships/media"/><Relationship Id="rId6" Target="../media/image13.jpeg" Type="http://schemas.openxmlformats.org/officeDocument/2006/relationships/image"/><Relationship Id="rId7" Target="../media/VAHYTechpoM.mp4" Type="http://schemas.openxmlformats.org/officeDocument/2006/relationships/video"/><Relationship Id="rId8" Target="../media/VAHYTechpoM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547955"/>
            <a:ext cx="1632508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450">
                <a:solidFill>
                  <a:srgbClr val="8C8C99">
                    <a:alpha val="0"/>
                  </a:srgbClr>
                </a:solidFill>
                <a:latin typeface="Inter"/>
                <a:ea typeface="Inter"/>
                <a:cs typeface="Inter"/>
                <a:sym typeface="Inter"/>
              </a:rPr>
              <a:t>LOVABLE HACKATHON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2626071"/>
            <a:ext cx="16325088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0"/>
              </a:lnSpc>
            </a:pPr>
            <a:r>
              <a:rPr lang="en-US" sz="19500">
                <a:solidFill>
                  <a:srgbClr val="8FA8FF"/>
                </a:solidFill>
                <a:latin typeface="Bebas Neue"/>
                <a:ea typeface="Bebas Neue"/>
                <a:cs typeface="Bebas Neue"/>
                <a:sym typeface="Bebas Neue"/>
              </a:rPr>
              <a:t>Ctrl+Voice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5007321"/>
            <a:ext cx="16325088" cy="1264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2EFE8"/>
                </a:solidFill>
                <a:latin typeface="Inter"/>
                <a:ea typeface="Inter"/>
                <a:cs typeface="Inter"/>
                <a:sym typeface="Inter"/>
              </a:rPr>
              <a:t>Edit what you said.</a:t>
            </a:r>
          </a:p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FF6FAE"/>
                </a:solidFill>
                <a:latin typeface="Inter"/>
                <a:ea typeface="Inter"/>
                <a:cs typeface="Inter"/>
                <a:sym typeface="Inter"/>
              </a:rPr>
              <a:t>In your own voice.</a:t>
            </a:r>
          </a:p>
        </p:txBody>
      </p:sp>
      <p:pic>
        <p:nvPicPr>
          <p:cNvPr name="Picture 5" id="5" descr="Animated audio waveform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219200" y="6538760"/>
            <a:ext cx="11430000" cy="2162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343025"/>
            <a:ext cx="1632508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>
                <a:solidFill>
                  <a:srgbClr val="F2EFE8"/>
                </a:solidFill>
                <a:latin typeface="Bebas Neue"/>
                <a:ea typeface="Bebas Neue"/>
                <a:cs typeface="Bebas Neue"/>
                <a:sym typeface="Bebas Neue"/>
              </a:rPr>
              <a:t>You can’t edit speech.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3595840"/>
            <a:ext cx="15849600" cy="3527974"/>
            <a:chOff x="0" y="0"/>
            <a:chExt cx="21132800" cy="47039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132800" cy="4703953"/>
            </a:xfrm>
            <a:custGeom>
              <a:avLst/>
              <a:gdLst/>
              <a:ahLst/>
              <a:cxnLst/>
              <a:rect r="r" b="b" t="t" l="l"/>
              <a:pathLst>
                <a:path h="4703953" w="21132800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20839176" y="0"/>
                  </a:lnTo>
                  <a:cubicBezTo>
                    <a:pt x="21001355" y="0"/>
                    <a:pt x="21132800" y="131445"/>
                    <a:pt x="21132800" y="293624"/>
                  </a:cubicBezTo>
                  <a:lnTo>
                    <a:pt x="21132800" y="4410329"/>
                  </a:lnTo>
                  <a:cubicBezTo>
                    <a:pt x="21132800" y="4572508"/>
                    <a:pt x="21001355" y="4703953"/>
                    <a:pt x="20839176" y="4703953"/>
                  </a:cubicBezTo>
                  <a:lnTo>
                    <a:pt x="293624" y="4703953"/>
                  </a:lnTo>
                  <a:cubicBezTo>
                    <a:pt x="131445" y="4703953"/>
                    <a:pt x="0" y="4572508"/>
                    <a:pt x="0" y="4410329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695450" y="4033990"/>
            <a:ext cx="15344013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WHAT YOU SAY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5450" y="4582563"/>
            <a:ext cx="15344013" cy="76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2EFE8"/>
                </a:solidFill>
                <a:latin typeface="Inter"/>
                <a:ea typeface="Inter"/>
                <a:cs typeface="Inter"/>
                <a:sym typeface="Inter"/>
              </a:rPr>
              <a:t>“I’m free on Thursday… no no no, on Wednesday.”</a:t>
            </a:r>
          </a:p>
        </p:txBody>
      </p:sp>
      <p:pic>
        <p:nvPicPr>
          <p:cNvPr name="Picture 7" id="7" descr="Animated audio waveform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95450" y="5504555"/>
            <a:ext cx="14630400" cy="1143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19200" y="8262042"/>
            <a:ext cx="16325088" cy="53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A typo takes one keystroke to fix. A spoken slip means re-recording, or sending it as it is.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5389" y="2900630"/>
            <a:ext cx="13457222" cy="4485741"/>
          </a:xfrm>
          <a:custGeom>
            <a:avLst/>
            <a:gdLst/>
            <a:ahLst/>
            <a:cxnLst/>
            <a:rect r="r" b="b" t="t" l="l"/>
            <a:pathLst>
              <a:path h="4485741" w="13457222">
                <a:moveTo>
                  <a:pt x="0" y="0"/>
                </a:moveTo>
                <a:lnTo>
                  <a:pt x="13457222" y="0"/>
                </a:lnTo>
                <a:lnTo>
                  <a:pt x="13457222" y="4485740"/>
                </a:lnTo>
                <a:lnTo>
                  <a:pt x="0" y="4485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343025"/>
            <a:ext cx="16325088" cy="108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2"/>
              </a:lnSpc>
            </a:pPr>
            <a:r>
              <a:rPr lang="en-US" sz="8803">
                <a:solidFill>
                  <a:srgbClr val="F2EFE8"/>
                </a:solidFill>
                <a:latin typeface="Bebas Neue"/>
                <a:ea typeface="Bebas Neue"/>
                <a:cs typeface="Bebas Neue"/>
                <a:sym typeface="Bebas Neue"/>
              </a:rPr>
              <a:t>Speech in. Speech out.</a:t>
            </a:r>
          </a:p>
        </p:txBody>
      </p:sp>
      <p:pic>
        <p:nvPicPr>
          <p:cNvPr name="Picture 3" id="3" descr="Animated audio waveform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-1292" t="0" r="-1292" b="0"/>
          <a:stretch>
            <a:fillRect/>
          </a:stretch>
        </p:blipFill>
        <p:spPr>
          <a:xfrm flipH="false" flipV="false" rot="0">
            <a:off x="1219200" y="2846184"/>
            <a:ext cx="15849600" cy="1392736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219200" y="4696120"/>
            <a:ext cx="5079949" cy="3193704"/>
            <a:chOff x="0" y="0"/>
            <a:chExt cx="6773266" cy="42582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4258310"/>
            </a:xfrm>
            <a:custGeom>
              <a:avLst/>
              <a:gdLst/>
              <a:ahLst/>
              <a:cxnLst/>
              <a:rect r="r" b="b" t="t" l="l"/>
              <a:pathLst>
                <a:path h="4258310" w="6773291">
                  <a:moveTo>
                    <a:pt x="0" y="293878"/>
                  </a:moveTo>
                  <a:cubicBezTo>
                    <a:pt x="0" y="131572"/>
                    <a:pt x="131572" y="0"/>
                    <a:pt x="293878" y="0"/>
                  </a:cubicBezTo>
                  <a:lnTo>
                    <a:pt x="6479413" y="0"/>
                  </a:lnTo>
                  <a:cubicBezTo>
                    <a:pt x="6641719" y="0"/>
                    <a:pt x="6773291" y="131572"/>
                    <a:pt x="6773291" y="293878"/>
                  </a:cubicBezTo>
                  <a:lnTo>
                    <a:pt x="6773291" y="3964432"/>
                  </a:lnTo>
                  <a:cubicBezTo>
                    <a:pt x="6773291" y="4126738"/>
                    <a:pt x="6641719" y="4258310"/>
                    <a:pt x="6479413" y="4258310"/>
                  </a:cubicBezTo>
                  <a:lnTo>
                    <a:pt x="293878" y="4258310"/>
                  </a:lnTo>
                  <a:cubicBezTo>
                    <a:pt x="131572" y="4258310"/>
                    <a:pt x="0" y="4126738"/>
                    <a:pt x="0" y="3964432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19250" y="5086645"/>
            <a:ext cx="4408246" cy="92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5775">
                <a:solidFill>
                  <a:srgbClr val="8FA8FF"/>
                </a:solidFill>
                <a:latin typeface="Bebas Neue"/>
                <a:ea typeface="Bebas Neue"/>
                <a:cs typeface="Bebas Neue"/>
                <a:sym typeface="Bebas Neue"/>
              </a:rPr>
              <a:t>Ctrl+F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250" y="6127994"/>
            <a:ext cx="4408246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896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Find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250" y="6682083"/>
            <a:ext cx="4408246" cy="84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179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Locate the error in your recording.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3949" y="4696120"/>
            <a:ext cx="5080102" cy="3193704"/>
            <a:chOff x="0" y="0"/>
            <a:chExt cx="6773469" cy="42582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4258310"/>
            </a:xfrm>
            <a:custGeom>
              <a:avLst/>
              <a:gdLst/>
              <a:ahLst/>
              <a:cxnLst/>
              <a:rect r="r" b="b" t="t" l="l"/>
              <a:pathLst>
                <a:path h="4258310" w="6773418">
                  <a:moveTo>
                    <a:pt x="0" y="293878"/>
                  </a:moveTo>
                  <a:cubicBezTo>
                    <a:pt x="0" y="131572"/>
                    <a:pt x="131572" y="0"/>
                    <a:pt x="293878" y="0"/>
                  </a:cubicBezTo>
                  <a:lnTo>
                    <a:pt x="6479540" y="0"/>
                  </a:lnTo>
                  <a:cubicBezTo>
                    <a:pt x="6641847" y="0"/>
                    <a:pt x="6773418" y="131572"/>
                    <a:pt x="6773418" y="293878"/>
                  </a:cubicBezTo>
                  <a:lnTo>
                    <a:pt x="6773418" y="3964432"/>
                  </a:lnTo>
                  <a:cubicBezTo>
                    <a:pt x="6773418" y="4126738"/>
                    <a:pt x="6641847" y="4258310"/>
                    <a:pt x="6479540" y="4258310"/>
                  </a:cubicBezTo>
                  <a:lnTo>
                    <a:pt x="293878" y="4258310"/>
                  </a:lnTo>
                  <a:cubicBezTo>
                    <a:pt x="131572" y="4258310"/>
                    <a:pt x="0" y="4126738"/>
                    <a:pt x="0" y="3964432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7003999" y="5086645"/>
            <a:ext cx="4408399" cy="92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5775">
                <a:solidFill>
                  <a:srgbClr val="C39BFF"/>
                </a:solidFill>
                <a:latin typeface="Bebas Neue"/>
                <a:ea typeface="Bebas Neue"/>
                <a:cs typeface="Bebas Neue"/>
                <a:sym typeface="Bebas Neue"/>
              </a:rPr>
              <a:t>Ctrl+X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03999" y="6127994"/>
            <a:ext cx="4408399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896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Cut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03999" y="6682083"/>
            <a:ext cx="4408399" cy="84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179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Remove only that moment of audio.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988851" y="4696120"/>
            <a:ext cx="5079949" cy="3193704"/>
            <a:chOff x="0" y="0"/>
            <a:chExt cx="6773266" cy="42582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73291" cy="4258310"/>
            </a:xfrm>
            <a:custGeom>
              <a:avLst/>
              <a:gdLst/>
              <a:ahLst/>
              <a:cxnLst/>
              <a:rect r="r" b="b" t="t" l="l"/>
              <a:pathLst>
                <a:path h="4258310" w="6773291">
                  <a:moveTo>
                    <a:pt x="0" y="293878"/>
                  </a:moveTo>
                  <a:cubicBezTo>
                    <a:pt x="0" y="131572"/>
                    <a:pt x="131572" y="0"/>
                    <a:pt x="293878" y="0"/>
                  </a:cubicBezTo>
                  <a:lnTo>
                    <a:pt x="6479413" y="0"/>
                  </a:lnTo>
                  <a:cubicBezTo>
                    <a:pt x="6641719" y="0"/>
                    <a:pt x="6773291" y="131572"/>
                    <a:pt x="6773291" y="293878"/>
                  </a:cubicBezTo>
                  <a:lnTo>
                    <a:pt x="6773291" y="3964432"/>
                  </a:lnTo>
                  <a:cubicBezTo>
                    <a:pt x="6773291" y="4126738"/>
                    <a:pt x="6641719" y="4258310"/>
                    <a:pt x="6479413" y="4258310"/>
                  </a:cubicBezTo>
                  <a:lnTo>
                    <a:pt x="293878" y="4258310"/>
                  </a:lnTo>
                  <a:cubicBezTo>
                    <a:pt x="131572" y="4258310"/>
                    <a:pt x="0" y="4126738"/>
                    <a:pt x="0" y="3964432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388901" y="5086645"/>
            <a:ext cx="4408246" cy="92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5775">
                <a:solidFill>
                  <a:srgbClr val="FF6FAE"/>
                </a:solidFill>
                <a:latin typeface="Bebas Neue"/>
                <a:ea typeface="Bebas Neue"/>
                <a:cs typeface="Bebas Neue"/>
                <a:sym typeface="Bebas Neue"/>
              </a:rPr>
              <a:t>Ctrl+V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88901" y="6127994"/>
            <a:ext cx="4408246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</a:pPr>
            <a:r>
              <a:rPr lang="en-US" sz="2896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Voice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88901" y="6682083"/>
            <a:ext cx="4408246" cy="84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179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Generate the fix in your voice, matched to the audio around it.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9200" y="8299399"/>
            <a:ext cx="16325088" cy="50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377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Text is only used to find the edit. What you get back is audio.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343025"/>
            <a:ext cx="1632508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>
                <a:solidFill>
                  <a:srgbClr val="F2EFE8"/>
                </a:solidFill>
                <a:latin typeface="Bebas Neue"/>
                <a:ea typeface="Bebas Neue"/>
                <a:cs typeface="Bebas Neue"/>
                <a:sym typeface="Bebas Neue"/>
              </a:rPr>
              <a:t>How it works</a:t>
            </a:r>
          </a:p>
        </p:txBody>
      </p:sp>
      <p:pic>
        <p:nvPicPr>
          <p:cNvPr name="Picture 3" id="3" descr="Animated six-step pipeline: record, locate, correct, cut, regenerate, restyle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219200" y="3871017"/>
            <a:ext cx="15849600" cy="314325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19200" y="8446884"/>
            <a:ext cx="259080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86200" y="8446884"/>
            <a:ext cx="266700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[speech-to-text model]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53200" y="8446884"/>
            <a:ext cx="259080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[small LLM]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20200" y="8446884"/>
            <a:ext cx="259080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7200" y="8446884"/>
            <a:ext cx="259080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[speech infill model]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54200" y="8446884"/>
            <a:ext cx="259080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[Voice2Voice model]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2831" y="1343025"/>
            <a:ext cx="4706987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>
                <a:solidFill>
                  <a:srgbClr val="F2EFE8"/>
                </a:solidFill>
                <a:latin typeface="Bebas Neue"/>
                <a:ea typeface="Bebas Neue"/>
                <a:cs typeface="Bebas Neue"/>
                <a:sym typeface="Bebas Neue"/>
              </a:rPr>
              <a:t>What it does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3753298"/>
            <a:ext cx="5130698" cy="2236289"/>
            <a:chOff x="0" y="0"/>
            <a:chExt cx="6840931" cy="29817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40982" cy="2981706"/>
            </a:xfrm>
            <a:custGeom>
              <a:avLst/>
              <a:gdLst/>
              <a:ahLst/>
              <a:cxnLst/>
              <a:rect r="r" b="b" t="t" l="l"/>
              <a:pathLst>
                <a:path h="2981706" w="6840982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6546342" y="0"/>
                  </a:lnTo>
                  <a:cubicBezTo>
                    <a:pt x="6709029" y="0"/>
                    <a:pt x="6840982" y="131953"/>
                    <a:pt x="6840982" y="294640"/>
                  </a:cubicBezTo>
                  <a:lnTo>
                    <a:pt x="6840982" y="2687066"/>
                  </a:lnTo>
                  <a:cubicBezTo>
                    <a:pt x="6840982" y="2849753"/>
                    <a:pt x="6709029" y="2981706"/>
                    <a:pt x="6546342" y="2981706"/>
                  </a:cubicBezTo>
                  <a:lnTo>
                    <a:pt x="294640" y="2981706"/>
                  </a:lnTo>
                  <a:cubicBezTo>
                    <a:pt x="131953" y="2981706"/>
                    <a:pt x="0" y="2849753"/>
                    <a:pt x="0" y="2687066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pic>
        <p:nvPicPr>
          <p:cNvPr name="Picture 5" id="5" descr="Animated waveform: Grammar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504950" y="4039048"/>
            <a:ext cx="4591050" cy="800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504950" y="4934398"/>
            <a:ext cx="4695977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8FA8FF"/>
                </a:solidFill>
                <a:latin typeface="Inter Bold"/>
                <a:ea typeface="Inter Bold"/>
                <a:cs typeface="Inter Bold"/>
                <a:sym typeface="Inter Bold"/>
              </a:rPr>
              <a:t>Grammar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4950" y="5366737"/>
            <a:ext cx="4695977" cy="37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“he go home” → “he goes home”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78498" y="3753298"/>
            <a:ext cx="5130851" cy="2236289"/>
            <a:chOff x="0" y="0"/>
            <a:chExt cx="6841134" cy="2981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41109" cy="2981706"/>
            </a:xfrm>
            <a:custGeom>
              <a:avLst/>
              <a:gdLst/>
              <a:ahLst/>
              <a:cxnLst/>
              <a:rect r="r" b="b" t="t" l="l"/>
              <a:pathLst>
                <a:path h="2981706" w="684110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6546469" y="0"/>
                  </a:lnTo>
                  <a:cubicBezTo>
                    <a:pt x="6709156" y="0"/>
                    <a:pt x="6841109" y="131953"/>
                    <a:pt x="6841109" y="294640"/>
                  </a:cubicBezTo>
                  <a:lnTo>
                    <a:pt x="6841109" y="2687066"/>
                  </a:lnTo>
                  <a:cubicBezTo>
                    <a:pt x="6841109" y="2849753"/>
                    <a:pt x="6709156" y="2981706"/>
                    <a:pt x="6546469" y="2981706"/>
                  </a:cubicBezTo>
                  <a:lnTo>
                    <a:pt x="294640" y="2981706"/>
                  </a:lnTo>
                  <a:cubicBezTo>
                    <a:pt x="131953" y="2981706"/>
                    <a:pt x="0" y="2849753"/>
                    <a:pt x="0" y="2687066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pic>
        <p:nvPicPr>
          <p:cNvPr name="Picture 10" id="10" descr="Animated waveform: Word order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6864248" y="4039048"/>
            <a:ext cx="4591050" cy="800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864248" y="4934398"/>
            <a:ext cx="4696130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8FA8FF"/>
                </a:solidFill>
                <a:latin typeface="Inter Bold"/>
                <a:ea typeface="Inter Bold"/>
                <a:cs typeface="Inter Bold"/>
                <a:sym typeface="Inter Bold"/>
              </a:rPr>
              <a:t>Word order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4248" y="5366737"/>
            <a:ext cx="4696130" cy="37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“love I you” → “I love you”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37949" y="3753298"/>
            <a:ext cx="5130851" cy="2236289"/>
            <a:chOff x="0" y="0"/>
            <a:chExt cx="6841134" cy="29817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41109" cy="2981706"/>
            </a:xfrm>
            <a:custGeom>
              <a:avLst/>
              <a:gdLst/>
              <a:ahLst/>
              <a:cxnLst/>
              <a:rect r="r" b="b" t="t" l="l"/>
              <a:pathLst>
                <a:path h="2981706" w="684110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6546469" y="0"/>
                  </a:lnTo>
                  <a:cubicBezTo>
                    <a:pt x="6709156" y="0"/>
                    <a:pt x="6841109" y="131953"/>
                    <a:pt x="6841109" y="294640"/>
                  </a:cubicBezTo>
                  <a:lnTo>
                    <a:pt x="6841109" y="2687066"/>
                  </a:lnTo>
                  <a:cubicBezTo>
                    <a:pt x="6841109" y="2849753"/>
                    <a:pt x="6709156" y="2981706"/>
                    <a:pt x="6546469" y="2981706"/>
                  </a:cubicBezTo>
                  <a:lnTo>
                    <a:pt x="294640" y="2981706"/>
                  </a:lnTo>
                  <a:cubicBezTo>
                    <a:pt x="131953" y="2981706"/>
                    <a:pt x="0" y="2849753"/>
                    <a:pt x="0" y="2687066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pic>
        <p:nvPicPr>
          <p:cNvPr name="Picture 15" id="15" descr="Animated waveform: Tone">
            <a:hlinkClick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2223699" y="4039048"/>
            <a:ext cx="4591050" cy="800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223699" y="4934398"/>
            <a:ext cx="4696130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C39BFF"/>
                </a:solidFill>
                <a:latin typeface="Inter Bold"/>
                <a:ea typeface="Inter Bold"/>
                <a:cs typeface="Inter Bold"/>
                <a:sym typeface="Inter Bold"/>
              </a:rPr>
              <a:t>Tone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23699" y="5366737"/>
            <a:ext cx="4696130" cy="37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Calmer or more formal, same message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9200" y="6218187"/>
            <a:ext cx="5130698" cy="2544813"/>
            <a:chOff x="0" y="0"/>
            <a:chExt cx="6840931" cy="33930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40855" cy="3393059"/>
            </a:xfrm>
            <a:custGeom>
              <a:avLst/>
              <a:gdLst/>
              <a:ahLst/>
              <a:cxnLst/>
              <a:rect r="r" b="b" t="t" l="l"/>
              <a:pathLst>
                <a:path h="3393059" w="6840855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6546596" y="0"/>
                  </a:lnTo>
                  <a:cubicBezTo>
                    <a:pt x="6709156" y="0"/>
                    <a:pt x="6840855" y="131826"/>
                    <a:pt x="6840855" y="294259"/>
                  </a:cubicBezTo>
                  <a:lnTo>
                    <a:pt x="6840855" y="3098800"/>
                  </a:lnTo>
                  <a:cubicBezTo>
                    <a:pt x="6840855" y="3261360"/>
                    <a:pt x="6709028" y="3393059"/>
                    <a:pt x="6546596" y="3393059"/>
                  </a:cubicBezTo>
                  <a:lnTo>
                    <a:pt x="294259" y="3393059"/>
                  </a:lnTo>
                  <a:cubicBezTo>
                    <a:pt x="131826" y="3393059"/>
                    <a:pt x="0" y="3261360"/>
                    <a:pt x="0" y="3098800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pic>
        <p:nvPicPr>
          <p:cNvPr name="Picture 20" id="20" descr="Animated waveform: Semantic undo">
            <a:hlinkClick action="ppaction://media"/>
          </p:cNvPr>
          <p:cNvPicPr>
            <a:picLocks noChangeAspect="true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504950" y="6503937"/>
            <a:ext cx="4591050" cy="8001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504950" y="7399287"/>
            <a:ext cx="4695977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C39BFF"/>
                </a:solidFill>
                <a:latin typeface="Inter Bold"/>
                <a:ea typeface="Inter Bold"/>
                <a:cs typeface="Inter Bold"/>
                <a:sym typeface="Inter Bold"/>
              </a:rPr>
              <a:t>Semantic undo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4950" y="7831636"/>
            <a:ext cx="4695977" cy="68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“Thursday, no no no, Wednesday” → “Wednesday”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78498" y="6218187"/>
            <a:ext cx="5130851" cy="2544813"/>
            <a:chOff x="0" y="0"/>
            <a:chExt cx="6841134" cy="33930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41109" cy="3393059"/>
            </a:xfrm>
            <a:custGeom>
              <a:avLst/>
              <a:gdLst/>
              <a:ahLst/>
              <a:cxnLst/>
              <a:rect r="r" b="b" t="t" l="l"/>
              <a:pathLst>
                <a:path h="3393059" w="6841109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6546850" y="0"/>
                  </a:lnTo>
                  <a:cubicBezTo>
                    <a:pt x="6709410" y="0"/>
                    <a:pt x="6841109" y="131826"/>
                    <a:pt x="6841109" y="294259"/>
                  </a:cubicBezTo>
                  <a:lnTo>
                    <a:pt x="6841109" y="3098800"/>
                  </a:lnTo>
                  <a:cubicBezTo>
                    <a:pt x="6841109" y="3261360"/>
                    <a:pt x="6709283" y="3393059"/>
                    <a:pt x="6546850" y="3393059"/>
                  </a:cubicBezTo>
                  <a:lnTo>
                    <a:pt x="294259" y="3393059"/>
                  </a:lnTo>
                  <a:cubicBezTo>
                    <a:pt x="131826" y="3393059"/>
                    <a:pt x="0" y="3261360"/>
                    <a:pt x="0" y="3098800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pic>
        <p:nvPicPr>
          <p:cNvPr name="Picture 25" id="25" descr="Animated waveform: Replacement">
            <a:hlinkClick action="ppaction://media"/>
          </p:cNvPr>
          <p:cNvPicPr>
            <a:picLocks noChangeAspect="true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5"/>
          <a:srcRect l="0" t="0" r="0" b="0"/>
          <a:stretch>
            <a:fillRect/>
          </a:stretch>
        </p:blipFill>
        <p:spPr>
          <a:xfrm flipH="false" flipV="false" rot="0">
            <a:off x="6864248" y="6503937"/>
            <a:ext cx="4591050" cy="8001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6864248" y="7399287"/>
            <a:ext cx="4696130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6FAE"/>
                </a:solidFill>
                <a:latin typeface="Inter Bold"/>
                <a:ea typeface="Inter Bold"/>
                <a:cs typeface="Inter Bold"/>
                <a:sym typeface="Inter Bold"/>
              </a:rPr>
              <a:t>Replacement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64248" y="7831636"/>
            <a:ext cx="4696130" cy="37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Predicts what you meant and speaks it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937949" y="6218187"/>
            <a:ext cx="5130851" cy="2544813"/>
            <a:chOff x="0" y="0"/>
            <a:chExt cx="6841134" cy="33930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41109" cy="3393059"/>
            </a:xfrm>
            <a:custGeom>
              <a:avLst/>
              <a:gdLst/>
              <a:ahLst/>
              <a:cxnLst/>
              <a:rect r="r" b="b" t="t" l="l"/>
              <a:pathLst>
                <a:path h="3393059" w="6841109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6546850" y="0"/>
                  </a:lnTo>
                  <a:cubicBezTo>
                    <a:pt x="6709410" y="0"/>
                    <a:pt x="6841109" y="131826"/>
                    <a:pt x="6841109" y="294259"/>
                  </a:cubicBezTo>
                  <a:lnTo>
                    <a:pt x="6841109" y="3098800"/>
                  </a:lnTo>
                  <a:cubicBezTo>
                    <a:pt x="6841109" y="3261360"/>
                    <a:pt x="6709283" y="3393059"/>
                    <a:pt x="6546850" y="3393059"/>
                  </a:cubicBezTo>
                  <a:lnTo>
                    <a:pt x="294259" y="3393059"/>
                  </a:lnTo>
                  <a:cubicBezTo>
                    <a:pt x="131826" y="3393059"/>
                    <a:pt x="0" y="3261360"/>
                    <a:pt x="0" y="3098800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pic>
        <p:nvPicPr>
          <p:cNvPr name="Picture 30" id="30" descr="Animated waveform: Pronunciation">
            <a:hlinkClick action="ppaction://media"/>
          </p:cNvPr>
          <p:cNvPicPr>
            <a:picLocks noChangeAspect="true"/>
          </p:cNvPicPr>
          <p:nvPr>
            <a:vide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18"/>
          <a:srcRect l="0" t="0" r="0" b="0"/>
          <a:stretch>
            <a:fillRect/>
          </a:stretch>
        </p:blipFill>
        <p:spPr>
          <a:xfrm flipH="false" flipV="false" rot="0">
            <a:off x="12223699" y="6503937"/>
            <a:ext cx="4591050" cy="8001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2223699" y="7399287"/>
            <a:ext cx="4696130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6FAE"/>
                </a:solidFill>
                <a:latin typeface="Inter Bold"/>
                <a:ea typeface="Inter Bold"/>
                <a:cs typeface="Inter Bold"/>
                <a:sym typeface="Inter Bold"/>
              </a:rPr>
              <a:t>Pronunciation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23699" y="7831636"/>
            <a:ext cx="4826051" cy="37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Re-speaks only the mispronounced words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343025"/>
            <a:ext cx="1632508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>
                <a:solidFill>
                  <a:srgbClr val="FF6FAE"/>
                </a:solidFill>
                <a:latin typeface="Bebas Neue"/>
                <a:ea typeface="Bebas Neue"/>
                <a:cs typeface="Bebas Neue"/>
                <a:sym typeface="Bebas Neue"/>
              </a:rPr>
              <a:t>Live demo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3627387"/>
            <a:ext cx="7772400" cy="3447755"/>
            <a:chOff x="0" y="0"/>
            <a:chExt cx="10363200" cy="45970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63200" cy="4597019"/>
            </a:xfrm>
            <a:custGeom>
              <a:avLst/>
              <a:gdLst/>
              <a:ahLst/>
              <a:cxnLst/>
              <a:rect r="r" b="b" t="t" l="l"/>
              <a:pathLst>
                <a:path h="4597019" w="10363200">
                  <a:moveTo>
                    <a:pt x="0" y="293751"/>
                  </a:moveTo>
                  <a:cubicBezTo>
                    <a:pt x="0" y="131445"/>
                    <a:pt x="131445" y="0"/>
                    <a:pt x="293751" y="0"/>
                  </a:cubicBezTo>
                  <a:lnTo>
                    <a:pt x="10069449" y="0"/>
                  </a:lnTo>
                  <a:cubicBezTo>
                    <a:pt x="10231755" y="0"/>
                    <a:pt x="10363200" y="131445"/>
                    <a:pt x="10363200" y="293751"/>
                  </a:cubicBezTo>
                  <a:lnTo>
                    <a:pt x="10363200" y="4303268"/>
                  </a:lnTo>
                  <a:cubicBezTo>
                    <a:pt x="10363200" y="4465447"/>
                    <a:pt x="10231755" y="4597019"/>
                    <a:pt x="10069449" y="4597019"/>
                  </a:cubicBezTo>
                  <a:lnTo>
                    <a:pt x="293751" y="4597019"/>
                  </a:lnTo>
                  <a:cubicBezTo>
                    <a:pt x="131445" y="4597019"/>
                    <a:pt x="0" y="4465447"/>
                    <a:pt x="0" y="4303268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695450" y="4065537"/>
            <a:ext cx="7024497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BEFORE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5450" y="4499820"/>
            <a:ext cx="7024497" cy="116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300">
                <a:solidFill>
                  <a:srgbClr val="F2EFE8"/>
                </a:solidFill>
                <a:latin typeface="Inter"/>
                <a:ea typeface="Inter"/>
                <a:cs typeface="Inter"/>
                <a:sym typeface="Inter"/>
              </a:rPr>
              <a:t>“I am free on Thursday, no no no, on Wednesday.”</a:t>
            </a:r>
          </a:p>
        </p:txBody>
      </p:sp>
      <p:pic>
        <p:nvPicPr>
          <p:cNvPr name="Picture 7" id="7" descr="Animated audio waveform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447800" y="5836891"/>
            <a:ext cx="7315200" cy="85725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9296400" y="3627387"/>
            <a:ext cx="7772400" cy="3447755"/>
            <a:chOff x="0" y="0"/>
            <a:chExt cx="10363200" cy="45970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63200" cy="4597019"/>
            </a:xfrm>
            <a:custGeom>
              <a:avLst/>
              <a:gdLst/>
              <a:ahLst/>
              <a:cxnLst/>
              <a:rect r="r" b="b" t="t" l="l"/>
              <a:pathLst>
                <a:path h="4597019" w="10363200">
                  <a:moveTo>
                    <a:pt x="0" y="293751"/>
                  </a:moveTo>
                  <a:cubicBezTo>
                    <a:pt x="0" y="131445"/>
                    <a:pt x="131445" y="0"/>
                    <a:pt x="293751" y="0"/>
                  </a:cubicBezTo>
                  <a:lnTo>
                    <a:pt x="10069449" y="0"/>
                  </a:lnTo>
                  <a:cubicBezTo>
                    <a:pt x="10231755" y="0"/>
                    <a:pt x="10363200" y="131445"/>
                    <a:pt x="10363200" y="293751"/>
                  </a:cubicBezTo>
                  <a:lnTo>
                    <a:pt x="10363200" y="4303268"/>
                  </a:lnTo>
                  <a:cubicBezTo>
                    <a:pt x="10363200" y="4465447"/>
                    <a:pt x="10231755" y="4597019"/>
                    <a:pt x="10069449" y="4597019"/>
                  </a:cubicBezTo>
                  <a:lnTo>
                    <a:pt x="293751" y="4597019"/>
                  </a:lnTo>
                  <a:cubicBezTo>
                    <a:pt x="131445" y="4597019"/>
                    <a:pt x="0" y="4465447"/>
                    <a:pt x="0" y="4303268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FF6FAE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772650" y="4065537"/>
            <a:ext cx="7024497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FF6FAE"/>
                </a:solidFill>
                <a:latin typeface="Inter"/>
                <a:ea typeface="Inter"/>
                <a:cs typeface="Inter"/>
                <a:sym typeface="Inter"/>
              </a:rPr>
              <a:t>AFTER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2650" y="4499820"/>
            <a:ext cx="7024497" cy="62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300">
                <a:solidFill>
                  <a:srgbClr val="F2EFE8"/>
                </a:solidFill>
                <a:latin typeface="Inter"/>
                <a:ea typeface="Inter"/>
                <a:cs typeface="Inter"/>
                <a:sym typeface="Inter"/>
              </a:rPr>
              <a:t>“I am free on Wednesday.”</a:t>
            </a:r>
          </a:p>
        </p:txBody>
      </p:sp>
      <p:pic>
        <p:nvPicPr>
          <p:cNvPr name="Picture 12" id="12" descr="Animated audio waveform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525000" y="5816060"/>
            <a:ext cx="7315200" cy="85725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219200" y="8235401"/>
            <a:ext cx="16325088" cy="56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Same voice. Same recording. Only the mistake changed.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333500"/>
            <a:ext cx="16325088" cy="105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47"/>
              </a:lnSpc>
            </a:pPr>
            <a:r>
              <a:rPr lang="en-US" sz="8521">
                <a:solidFill>
                  <a:srgbClr val="F2EFE8"/>
                </a:solidFill>
                <a:latin typeface="Bebas Neue"/>
                <a:ea typeface="Bebas Neue"/>
                <a:cs typeface="Bebas Neue"/>
                <a:sym typeface="Bebas Neue"/>
              </a:rPr>
              <a:t>Benchmarks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2772070"/>
            <a:ext cx="3728085" cy="36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STEP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95900" y="2772070"/>
            <a:ext cx="5690235" cy="36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MODELS TESTED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77600" y="2772070"/>
            <a:ext cx="3139440" cy="36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METRIC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82800" y="2772070"/>
            <a:ext cx="2362200" cy="36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BEST</a:t>
            </a:r>
          </a:p>
        </p:txBody>
      </p:sp>
      <p:sp>
        <p:nvSpPr>
          <p:cNvPr name="AutoShape 7" id="7"/>
          <p:cNvSpPr/>
          <p:nvPr/>
        </p:nvSpPr>
        <p:spPr>
          <a:xfrm rot="2040">
            <a:off x="1214438" y="3247130"/>
            <a:ext cx="15859125" cy="0"/>
          </a:xfrm>
          <a:prstGeom prst="line">
            <a:avLst/>
          </a:prstGeom>
          <a:ln cap="rnd" w="9525">
            <a:solidFill>
              <a:srgbClr val="2C2C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19200" y="3418580"/>
            <a:ext cx="37280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Timestamps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95900" y="3466205"/>
            <a:ext cx="5690235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[model A, B, C]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77600" y="3466205"/>
            <a:ext cx="313944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Word timing error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82800" y="3466205"/>
            <a:ext cx="236220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6FAE"/>
                </a:solidFill>
                <a:latin typeface="Inter"/>
                <a:ea typeface="Inter"/>
                <a:cs typeface="Inter"/>
                <a:sym typeface="Inter"/>
              </a:rPr>
              <a:t>[result]</a:t>
            </a:r>
          </a:p>
        </p:txBody>
      </p:sp>
      <p:sp>
        <p:nvSpPr>
          <p:cNvPr name="AutoShape 12" id="12"/>
          <p:cNvSpPr/>
          <p:nvPr/>
        </p:nvSpPr>
        <p:spPr>
          <a:xfrm rot="2040">
            <a:off x="1214438" y="4031609"/>
            <a:ext cx="15859125" cy="0"/>
          </a:xfrm>
          <a:prstGeom prst="line">
            <a:avLst/>
          </a:prstGeom>
          <a:ln cap="rnd" w="9525">
            <a:solidFill>
              <a:srgbClr val="2C2C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19200" y="4203059"/>
            <a:ext cx="37280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Text correction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95900" y="4250684"/>
            <a:ext cx="5690235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[LLM A, B, C]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77600" y="4250684"/>
            <a:ext cx="313944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Fix accuracy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82800" y="4250684"/>
            <a:ext cx="236220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6FAE"/>
                </a:solidFill>
                <a:latin typeface="Inter"/>
                <a:ea typeface="Inter"/>
                <a:cs typeface="Inter"/>
                <a:sym typeface="Inter"/>
              </a:rPr>
              <a:t>[result]</a:t>
            </a:r>
          </a:p>
        </p:txBody>
      </p:sp>
      <p:sp>
        <p:nvSpPr>
          <p:cNvPr name="AutoShape 17" id="17"/>
          <p:cNvSpPr/>
          <p:nvPr/>
        </p:nvSpPr>
        <p:spPr>
          <a:xfrm rot="2040">
            <a:off x="1214438" y="4815926"/>
            <a:ext cx="15859125" cy="0"/>
          </a:xfrm>
          <a:prstGeom prst="line">
            <a:avLst/>
          </a:prstGeom>
          <a:ln cap="rnd" w="9525">
            <a:solidFill>
              <a:srgbClr val="2C2C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219200" y="4987376"/>
            <a:ext cx="37280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Voice infill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95900" y="5035001"/>
            <a:ext cx="5690235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[model A, B, C]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77600" y="5035001"/>
            <a:ext cx="313944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Voice similarity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82800" y="5035001"/>
            <a:ext cx="236220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6FAE"/>
                </a:solidFill>
                <a:latin typeface="Inter"/>
                <a:ea typeface="Inter"/>
                <a:cs typeface="Inter"/>
                <a:sym typeface="Inter"/>
              </a:rPr>
              <a:t>[result]</a:t>
            </a:r>
          </a:p>
        </p:txBody>
      </p:sp>
      <p:sp>
        <p:nvSpPr>
          <p:cNvPr name="AutoShape 22" id="22"/>
          <p:cNvSpPr/>
          <p:nvPr/>
        </p:nvSpPr>
        <p:spPr>
          <a:xfrm rot="2040">
            <a:off x="1214438" y="5600252"/>
            <a:ext cx="15859125" cy="0"/>
          </a:xfrm>
          <a:prstGeom prst="line">
            <a:avLst/>
          </a:prstGeom>
          <a:ln cap="rnd" w="9525">
            <a:solidFill>
              <a:srgbClr val="2C2C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219200" y="5771702"/>
            <a:ext cx="37280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Voice2Voice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95900" y="5819327"/>
            <a:ext cx="5690235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[model A, B, C]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77600" y="5819327"/>
            <a:ext cx="313944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Listening test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82800" y="5819327"/>
            <a:ext cx="236220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6FAE"/>
                </a:solidFill>
                <a:latin typeface="Inter"/>
                <a:ea typeface="Inter"/>
                <a:cs typeface="Inter"/>
                <a:sym typeface="Inter"/>
              </a:rPr>
              <a:t>[result]</a:t>
            </a:r>
          </a:p>
        </p:txBody>
      </p:sp>
      <p:sp>
        <p:nvSpPr>
          <p:cNvPr name="AutoShape 27" id="27"/>
          <p:cNvSpPr/>
          <p:nvPr/>
        </p:nvSpPr>
        <p:spPr>
          <a:xfrm rot="2040">
            <a:off x="1214438" y="6384579"/>
            <a:ext cx="15859125" cy="0"/>
          </a:xfrm>
          <a:prstGeom prst="line">
            <a:avLst/>
          </a:prstGeom>
          <a:ln cap="rnd" w="9525">
            <a:solidFill>
              <a:srgbClr val="2C2C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219200" y="6556029"/>
            <a:ext cx="37280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Pronunciation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95900" y="6603654"/>
            <a:ext cx="5690235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[model A, B, C]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77600" y="6603654"/>
            <a:ext cx="313944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Word error rate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782800" y="6603654"/>
            <a:ext cx="236220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6FAE"/>
                </a:solidFill>
                <a:latin typeface="Inter"/>
                <a:ea typeface="Inter"/>
                <a:cs typeface="Inter"/>
                <a:sym typeface="Inter"/>
              </a:rPr>
              <a:t>[result]</a:t>
            </a:r>
          </a:p>
        </p:txBody>
      </p:sp>
      <p:sp>
        <p:nvSpPr>
          <p:cNvPr name="AutoShape 32" id="32"/>
          <p:cNvSpPr/>
          <p:nvPr/>
        </p:nvSpPr>
        <p:spPr>
          <a:xfrm rot="2040">
            <a:off x="1214438" y="7168906"/>
            <a:ext cx="15859125" cy="0"/>
          </a:xfrm>
          <a:prstGeom prst="line">
            <a:avLst/>
          </a:prstGeom>
          <a:ln cap="rnd" w="9525">
            <a:solidFill>
              <a:srgbClr val="2C2C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219200" y="7340356"/>
            <a:ext cx="37280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Full pipeline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95900" y="7387981"/>
            <a:ext cx="5690235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9C6BE"/>
                </a:solidFill>
                <a:latin typeface="Inter"/>
                <a:ea typeface="Inter"/>
                <a:cs typeface="Inter"/>
                <a:sym typeface="Inter"/>
              </a:rPr>
              <a:t>[chosen stack]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77600" y="7387981"/>
            <a:ext cx="313944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Latency per clip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82800" y="7387981"/>
            <a:ext cx="236220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6FAE"/>
                </a:solidFill>
                <a:latin typeface="Inter"/>
                <a:ea typeface="Inter"/>
                <a:cs typeface="Inter"/>
                <a:sym typeface="Inter"/>
              </a:rPr>
              <a:t>[result]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9200" y="8362798"/>
            <a:ext cx="16325088" cy="438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008">
                <a:solidFill>
                  <a:srgbClr val="8C8C99"/>
                </a:solidFill>
                <a:latin typeface="Inter"/>
                <a:ea typeface="Inter"/>
                <a:cs typeface="Inter"/>
                <a:sym typeface="Inter"/>
              </a:rPr>
              <a:t>Why we picked the models we picked. Fill in your measured numbers.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343025"/>
            <a:ext cx="1632508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>
                <a:solidFill>
                  <a:srgbClr val="F2EFE8"/>
                </a:solidFill>
                <a:latin typeface="Bebas Neue"/>
                <a:ea typeface="Bebas Neue"/>
                <a:cs typeface="Bebas Neue"/>
                <a:sym typeface="Bebas Neue"/>
              </a:rPr>
              <a:t>The team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4120753"/>
            <a:ext cx="2986983" cy="1797996"/>
            <a:chOff x="0" y="0"/>
            <a:chExt cx="3982644" cy="23973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82720" cy="2397379"/>
            </a:xfrm>
            <a:custGeom>
              <a:avLst/>
              <a:gdLst/>
              <a:ahLst/>
              <a:cxnLst/>
              <a:rect r="r" b="b" t="t" l="l"/>
              <a:pathLst>
                <a:path h="2397379" w="3982720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3687445" y="0"/>
                  </a:lnTo>
                  <a:cubicBezTo>
                    <a:pt x="3850513" y="0"/>
                    <a:pt x="3982720" y="132207"/>
                    <a:pt x="3982720" y="295275"/>
                  </a:cubicBezTo>
                  <a:lnTo>
                    <a:pt x="3982720" y="2102104"/>
                  </a:lnTo>
                  <a:cubicBezTo>
                    <a:pt x="3982720" y="2265172"/>
                    <a:pt x="3850513" y="2397379"/>
                    <a:pt x="3687445" y="2397379"/>
                  </a:cubicBezTo>
                  <a:lnTo>
                    <a:pt x="295275" y="2397379"/>
                  </a:lnTo>
                  <a:cubicBezTo>
                    <a:pt x="132207" y="2397379"/>
                    <a:pt x="0" y="2265172"/>
                    <a:pt x="0" y="2102104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504950" y="4406503"/>
            <a:ext cx="24916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Antony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4950" y="4848377"/>
            <a:ext cx="2491683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8FA8FF"/>
                </a:solidFill>
                <a:latin typeface="Inter"/>
                <a:ea typeface="Inter"/>
                <a:cs typeface="Inter"/>
                <a:sym typeface="Inter"/>
              </a:rPr>
              <a:t>ML Engineer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434783" y="4120753"/>
            <a:ext cx="2987126" cy="1797996"/>
            <a:chOff x="0" y="0"/>
            <a:chExt cx="3982834" cy="23973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82847" cy="2397379"/>
            </a:xfrm>
            <a:custGeom>
              <a:avLst/>
              <a:gdLst/>
              <a:ahLst/>
              <a:cxnLst/>
              <a:rect r="r" b="b" t="t" l="l"/>
              <a:pathLst>
                <a:path h="2397379" w="3982847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3687572" y="0"/>
                  </a:lnTo>
                  <a:cubicBezTo>
                    <a:pt x="3850640" y="0"/>
                    <a:pt x="3982847" y="132207"/>
                    <a:pt x="3982847" y="295275"/>
                  </a:cubicBezTo>
                  <a:lnTo>
                    <a:pt x="3982847" y="2102104"/>
                  </a:lnTo>
                  <a:cubicBezTo>
                    <a:pt x="3982847" y="2265172"/>
                    <a:pt x="3850640" y="2397379"/>
                    <a:pt x="3687572" y="2397379"/>
                  </a:cubicBezTo>
                  <a:lnTo>
                    <a:pt x="295275" y="2397379"/>
                  </a:lnTo>
                  <a:cubicBezTo>
                    <a:pt x="132207" y="2397379"/>
                    <a:pt x="0" y="2265172"/>
                    <a:pt x="0" y="2102104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4720533" y="4406503"/>
            <a:ext cx="249182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Nikoloz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20533" y="4848377"/>
            <a:ext cx="2491826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8FA8FF"/>
                </a:solidFill>
                <a:latin typeface="Inter"/>
                <a:ea typeface="Inter"/>
                <a:cs typeface="Inter"/>
                <a:sym typeface="Inter"/>
              </a:rPr>
              <a:t>ML Engineer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50509" y="4120753"/>
            <a:ext cx="2986983" cy="1797996"/>
            <a:chOff x="0" y="0"/>
            <a:chExt cx="3982644" cy="2397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82720" cy="2397379"/>
            </a:xfrm>
            <a:custGeom>
              <a:avLst/>
              <a:gdLst/>
              <a:ahLst/>
              <a:cxnLst/>
              <a:rect r="r" b="b" t="t" l="l"/>
              <a:pathLst>
                <a:path h="2397379" w="3982720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3687445" y="0"/>
                  </a:lnTo>
                  <a:cubicBezTo>
                    <a:pt x="3850513" y="0"/>
                    <a:pt x="3982720" y="132207"/>
                    <a:pt x="3982720" y="295275"/>
                  </a:cubicBezTo>
                  <a:lnTo>
                    <a:pt x="3982720" y="2102104"/>
                  </a:lnTo>
                  <a:cubicBezTo>
                    <a:pt x="3982720" y="2265172"/>
                    <a:pt x="3850513" y="2397379"/>
                    <a:pt x="3687445" y="2397379"/>
                  </a:cubicBezTo>
                  <a:lnTo>
                    <a:pt x="295275" y="2397379"/>
                  </a:lnTo>
                  <a:cubicBezTo>
                    <a:pt x="132207" y="2397379"/>
                    <a:pt x="0" y="2265172"/>
                    <a:pt x="0" y="2102104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936259" y="4406503"/>
            <a:ext cx="2491683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[Name]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36259" y="4848377"/>
            <a:ext cx="2491683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C39BFF"/>
                </a:solidFill>
                <a:latin typeface="Inter"/>
                <a:ea typeface="Inter"/>
                <a:cs typeface="Inter"/>
                <a:sym typeface="Inter"/>
              </a:rPr>
              <a:t>Data Analyst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66091" y="4120753"/>
            <a:ext cx="2987126" cy="1797996"/>
            <a:chOff x="0" y="0"/>
            <a:chExt cx="3982834" cy="23973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82847" cy="2397379"/>
            </a:xfrm>
            <a:custGeom>
              <a:avLst/>
              <a:gdLst/>
              <a:ahLst/>
              <a:cxnLst/>
              <a:rect r="r" b="b" t="t" l="l"/>
              <a:pathLst>
                <a:path h="2397379" w="3982847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3687572" y="0"/>
                  </a:lnTo>
                  <a:cubicBezTo>
                    <a:pt x="3850640" y="0"/>
                    <a:pt x="3982847" y="132207"/>
                    <a:pt x="3982847" y="295275"/>
                  </a:cubicBezTo>
                  <a:lnTo>
                    <a:pt x="3982847" y="2102104"/>
                  </a:lnTo>
                  <a:cubicBezTo>
                    <a:pt x="3982847" y="2265172"/>
                    <a:pt x="3850640" y="2397379"/>
                    <a:pt x="3687572" y="2397379"/>
                  </a:cubicBezTo>
                  <a:lnTo>
                    <a:pt x="295275" y="2397379"/>
                  </a:lnTo>
                  <a:cubicBezTo>
                    <a:pt x="132207" y="2397379"/>
                    <a:pt x="0" y="2265172"/>
                    <a:pt x="0" y="2102104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151841" y="4406503"/>
            <a:ext cx="2491826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[Name]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1841" y="4848377"/>
            <a:ext cx="2491826" cy="82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C39BFF"/>
                </a:solidFill>
                <a:latin typeface="Inter"/>
                <a:ea typeface="Inter"/>
                <a:cs typeface="Inter"/>
                <a:sym typeface="Inter"/>
              </a:rPr>
              <a:t>MLOps / API Engineer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081817" y="4120753"/>
            <a:ext cx="2986983" cy="1797996"/>
            <a:chOff x="0" y="0"/>
            <a:chExt cx="3982644" cy="23973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82720" cy="2397379"/>
            </a:xfrm>
            <a:custGeom>
              <a:avLst/>
              <a:gdLst/>
              <a:ahLst/>
              <a:cxnLst/>
              <a:rect r="r" b="b" t="t" l="l"/>
              <a:pathLst>
                <a:path h="2397379" w="3982720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3687445" y="0"/>
                  </a:lnTo>
                  <a:cubicBezTo>
                    <a:pt x="3850513" y="0"/>
                    <a:pt x="3982720" y="132207"/>
                    <a:pt x="3982720" y="295275"/>
                  </a:cubicBezTo>
                  <a:lnTo>
                    <a:pt x="3982720" y="2102104"/>
                  </a:lnTo>
                  <a:cubicBezTo>
                    <a:pt x="3982720" y="2265172"/>
                    <a:pt x="3850513" y="2397379"/>
                    <a:pt x="3687445" y="2397379"/>
                  </a:cubicBezTo>
                  <a:lnTo>
                    <a:pt x="295275" y="2397379"/>
                  </a:lnTo>
                  <a:cubicBezTo>
                    <a:pt x="132207" y="2397379"/>
                    <a:pt x="0" y="2265172"/>
                    <a:pt x="0" y="2102104"/>
                  </a:cubicBezTo>
                  <a:close/>
                </a:path>
              </a:pathLst>
            </a:custGeom>
            <a:solidFill>
              <a:srgbClr val="1A1A1F"/>
            </a:solidFill>
            <a:ln w="19050" cap="sq">
              <a:solidFill>
                <a:srgbClr val="2C2C34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4367567" y="4406503"/>
            <a:ext cx="2491683" cy="40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2EFE8"/>
                </a:solidFill>
                <a:latin typeface="Inter Bold"/>
                <a:ea typeface="Inter Bold"/>
                <a:cs typeface="Inter Bold"/>
                <a:sym typeface="Inter Bold"/>
              </a:rPr>
              <a:t>[Name]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367567" y="4848377"/>
            <a:ext cx="2491683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6FAE"/>
                </a:solidFill>
                <a:latin typeface="Inter"/>
                <a:ea typeface="Inter"/>
                <a:cs typeface="Inter"/>
                <a:sym typeface="Inter"/>
              </a:rPr>
              <a:t>Software Engineer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7781925"/>
            <a:ext cx="1632508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8FA8FF"/>
                </a:solidFill>
                <a:latin typeface="Bebas Neue"/>
                <a:ea typeface="Bebas Neue"/>
                <a:cs typeface="Bebas Neue"/>
                <a:sym typeface="Bebas Neue"/>
              </a:rPr>
              <a:t>Ctrl+Voice. Say it once.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DAHYTcteKcE</dc:identifier>
  <dcterms:modified xsi:type="dcterms:W3CDTF">2011-08-01T06:04:30Z</dcterms:modified>
  <cp:revision>1</cp:revision>
  <dc:title>Ctrl+Voice — Hackathon Pitch.pptx</dc:title>
</cp:coreProperties>
</file>